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3108960" cy="3108960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AVALIATIVA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Testes de Software e a</a:t>
            </a:r>
            <a:endParaRPr lang="en-US" sz="42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Qualidade dos Sistemas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F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Analisando casos reais de falha que poderiam ter sido evitados com testes adequados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100584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074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de Teste  •  Planejamento de Testes  •  Casos de Teste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testar um sistema antes do uso?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6035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pesquisa investiga como os testes de software contribuem para a qualidade de um sistema, a partir da análise de casos reais em que falhas graves poderiam ter sido evitadas com um processo de testes mais completo e rigoroso.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7947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3749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de Teste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405079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organizadas que garantem qualidade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450799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507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446227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de Testes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4764024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Escopo, recursos e critérios definidos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5221224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52212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5175504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Teste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5477256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Cenários que validam o comportamento esperado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086600" y="1691640"/>
            <a:ext cx="4480560" cy="4434840"/>
          </a:xfrm>
          <a:prstGeom prst="roundRect">
            <a:avLst>
              <a:gd name="adj" fmla="val 2474"/>
            </a:avLst>
          </a:prstGeom>
          <a:solidFill>
            <a:srgbClr val="0B2E33"/>
          </a:solidFill>
          <a:ln/>
          <a:effectLst>
            <a:outerShdw sx="100000" sy="100000" kx="0" ky="0" algn="bl" rotWithShape="0" blurRad="127000" dist="38100" dir="5400000">
              <a:srgbClr val="1E1E1E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52360" y="201168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US$ 440 MI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7452360" y="278892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F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perdidos pela Knight Capital em apenas 45 minutos por causa de uma falha de implantação de software.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452360" y="3977640"/>
            <a:ext cx="3749040" cy="0"/>
          </a:xfrm>
          <a:prstGeom prst="line">
            <a:avLst/>
          </a:prstGeom>
          <a:noFill/>
          <a:ln w="12700">
            <a:solidFill>
              <a:srgbClr val="2B5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416052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como este mostram que testes bem planejados protegem dados, garantem o funcionamento correto e, em alguns casos, salvam vidas.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FALHA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Falhas reais que testes poderiam ter evitado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1E1E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947672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4767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35000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Foguete Ariane 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715768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Explodiu segundos após o lançamento devido a um erro de software. Testes mais completos antes do lançamento poderiam ter evitado o desastre.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1E1E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1947672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94767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1985–87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235000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Therac-25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37960" y="2715768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Equipamento médico aplicou doses excessivas de radiação em pacientes por falhas no programa. Testes de segurança rigorosos poderiam ter evitado os acidentes.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97764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1E1E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4233672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23367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463600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Knight Capital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5001768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Perda de cerca de US$ 440 milhões em 45 minutos após uma atualização instalada incorretamente. Testes prévios e implantação cuidadosa evitariam o prejuízo.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397764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1E1E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37960" y="4233672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0B4F55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423367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37960" y="463600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Único (CadÚnico)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37960" y="5001768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 na plataforma de programas sociais deixou beneficiários de fora e gerou pagamentos incorretos, após problemas na infraestrutura do sistema.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DE TESTE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Conjunto organizado de atividades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 que o software atenda aos requisitos especificados e apresente qualidade suficiente para ser utilizado.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254203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1E1E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2128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212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2788920"/>
            <a:ext cx="21396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dos requisitos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3273552"/>
            <a:ext cx="21396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Compreender o funcionamento esperado e identificar o que testar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10128" y="2011680"/>
            <a:ext cx="254203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1E1E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11296" y="22128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3511296" y="2212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11296" y="2788920"/>
            <a:ext cx="21396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11296" y="3273552"/>
            <a:ext cx="21396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objetivos, escopo, recursos, cronograma e estratégias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80176" y="2011680"/>
            <a:ext cx="254203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1E1E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81344" y="22128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181344" y="2212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81344" y="2788920"/>
            <a:ext cx="21396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dos casos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81344" y="3273552"/>
            <a:ext cx="21396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Elaborar cenários, entradas, resultados esperados e critérios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650224" y="2011680"/>
            <a:ext cx="254203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1E1E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851392" y="22128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8851392" y="2212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851392" y="2788920"/>
            <a:ext cx="21396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Preparação do ambiente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851392" y="3273552"/>
            <a:ext cx="21396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banco de dados, servidores, dispositivos e ferramentas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4206240"/>
            <a:ext cx="254203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1E1E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41248" y="440740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" y="4407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41248" y="4983480"/>
            <a:ext cx="21396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dos testes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41248" y="5468112"/>
            <a:ext cx="21396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Executar os casos planejados e registrar evidências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10128" y="4206240"/>
            <a:ext cx="254203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1E1E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511296" y="440740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3" name="Text 31"/>
          <p:cNvSpPr/>
          <p:nvPr/>
        </p:nvSpPr>
        <p:spPr>
          <a:xfrm>
            <a:off x="3511296" y="4407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511296" y="4983480"/>
            <a:ext cx="21396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defeitos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511296" y="5468112"/>
            <a:ext cx="21396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falhas e encaminhar à equipe de desenvolvimento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980176" y="4206240"/>
            <a:ext cx="254203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1E1E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81344" y="440740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8" name="Text 36"/>
          <p:cNvSpPr/>
          <p:nvPr/>
        </p:nvSpPr>
        <p:spPr>
          <a:xfrm>
            <a:off x="6181344" y="4407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181344" y="4983480"/>
            <a:ext cx="21396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Reteste e regressão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181344" y="5468112"/>
            <a:ext cx="21396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correções e checar impacto em outras funções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650224" y="4206240"/>
            <a:ext cx="254203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1E1E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851392" y="440740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3" name="Text 41"/>
          <p:cNvSpPr/>
          <p:nvPr/>
        </p:nvSpPr>
        <p:spPr>
          <a:xfrm>
            <a:off x="8851392" y="4407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8851392" y="4983480"/>
            <a:ext cx="21396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851392" y="5468112"/>
            <a:ext cx="21396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final e avaliação de indicadores de qualidade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DE TESTES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os testes serão conduzidos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61848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dos testes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069080" y="173736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4325112" y="161848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do projeto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98080" y="173736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7754112" y="161848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testadas / não testadas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30428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218541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teste a executar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069080" y="230428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4325112" y="218541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necessários (equipe, ferramentas, infraestrutura)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98080" y="230428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7754112" y="218541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de execução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287121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275234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entrada e saída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069080" y="287121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4325112" y="275234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aprovação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98080" y="287121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7754112" y="275234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dos riscos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3794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DE PLANO DE TESTES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160520"/>
          <a:ext cx="10515600" cy="2331720"/>
        </p:xfrm>
        <a:graphic>
          <a:graphicData uri="http://schemas.openxmlformats.org/drawingml/2006/table">
            <a:tbl>
              <a:tblPr/>
              <a:tblGrid>
                <a:gridCol w="2926080"/>
                <a:gridCol w="7589520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Validar o cadastro de usuários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Escopo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Cadastro, edição, exclusão e login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Tipos de teste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Unitário, Integração, Sistema e Regressão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Ferramentas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PHPUnit, Postman e Selenium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Responsável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Equipe de QA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 de aprovação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dos testes críticos aprovados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TESTE — TIPOS (1/2)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Testes funcionais e de aceitação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1E1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20240"/>
            <a:ext cx="73152" cy="1965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1031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Unitário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2487168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pequenas partes isoladas, como funções ou classes.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96112" y="331012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testar se um método de cálculo de desconto retorna o valor correto.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51960" y="192024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1E1E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51960" y="1920240"/>
            <a:ext cx="73152" cy="19659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507992" y="21031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07992" y="2487168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se módulos diferentes funcionam corretamente juntos.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07992" y="331012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confirmar que o cadastro é salvo no banco e o e-mail é enviado.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863840" y="192024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1E1E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863840" y="1920240"/>
            <a:ext cx="73152" cy="19659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8119872" y="21031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19872" y="2487168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 o sistema completo quanto aos requisitos funcionais e não funcionais.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19872" y="331012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testar todo o fluxo de compra em um e-commerce.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411480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1E1E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4114800"/>
            <a:ext cx="73152" cy="1965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42976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Aceitação (UAT)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96112" y="4681728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Realizado pelo cliente para confirmar que o software atende ao negócio.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96112" y="550468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o cliente testa um sistema de estoque antes de aprová-lo.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51960" y="411480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1E1E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51960" y="4114800"/>
            <a:ext cx="73152" cy="19659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4507992" y="42976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07992" y="4681728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 que alterações não causaram novos problemas.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07992" y="550468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após corrigir o login, checar se cadastro e senha continuam OK.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63840" y="411480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1E1E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863840" y="4114800"/>
            <a:ext cx="73152" cy="19659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2" name="Text 30"/>
          <p:cNvSpPr/>
          <p:nvPr/>
        </p:nvSpPr>
        <p:spPr>
          <a:xfrm>
            <a:off x="8119872" y="42976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119872" y="4681728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se cada funcionalidade atende aos requisitos.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119872" y="550468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validar se o botão "Salvar" grava os dados corretamente.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TESTE — TIPOS (2/2)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Testes não funcionais e exploratórios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82880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2121408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 o desempenho sob diferentes condições: carga, estresse e volume.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260604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2898648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vulnerabilidades: autenticação, autorização e SQL Injection.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429000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338328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Usabilidade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3675888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 se o sistema é fácil de aprender e utilizar.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206240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416052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5880" y="4453128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o funcionamento em diferentes SOs, dispositivos e navegadores.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983480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983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493776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Exploratório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25880" y="5230368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testador explora o sistema livremente, sem roteiro rígido, buscando falhas.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818120" y="1874520"/>
            <a:ext cx="3749040" cy="3977640"/>
          </a:xfrm>
          <a:prstGeom prst="roundRect">
            <a:avLst>
              <a:gd name="adj" fmla="val 2927"/>
            </a:avLst>
          </a:prstGeom>
          <a:solidFill>
            <a:srgbClr val="0B2E33"/>
          </a:solidFill>
          <a:ln/>
          <a:effectLst>
            <a:outerShdw sx="100000" sy="100000" kx="0" ky="0" algn="bl" rotWithShape="0" blurRad="127000" dist="38100" dir="5400000">
              <a:srgbClr val="1E1E1E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138160" y="2148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NÃO FUNCIONAL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38160" y="25146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 características além da função — como o sistema se comporta.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138160" y="338328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>
            <a:off x="8366760" y="326440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138160" y="376732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8366760" y="364845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138160" y="415137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3" name="Text 31"/>
          <p:cNvSpPr/>
          <p:nvPr/>
        </p:nvSpPr>
        <p:spPr>
          <a:xfrm>
            <a:off x="8366760" y="403250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Usabilidade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138160" y="453542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5" name="Text 33"/>
          <p:cNvSpPr/>
          <p:nvPr/>
        </p:nvSpPr>
        <p:spPr>
          <a:xfrm>
            <a:off x="8366760" y="441655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Escalabilidade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138160" y="491947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7" name="Text 35"/>
          <p:cNvSpPr/>
          <p:nvPr/>
        </p:nvSpPr>
        <p:spPr>
          <a:xfrm>
            <a:off x="8366760" y="48006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Compatibilidade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teste e seus objetivos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881360" cy="4846320"/>
        </p:xfrm>
        <a:graphic>
          <a:graphicData uri="http://schemas.openxmlformats.org/drawingml/2006/table">
            <a:tbl>
              <a:tblPr/>
              <a:tblGrid>
                <a:gridCol w="3291840"/>
                <a:gridCol w="7589520"/>
              </a:tblGrid>
              <a:tr h="3727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Teste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3"/>
                    </a:solidFill>
                  </a:tcPr>
                </a:tc>
              </a:tr>
              <a:tr h="3727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Unitário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Testar uma pequena parte do código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27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Verificar a comunicação entre módulos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</a:tr>
              <a:tr h="3727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Testar o sistema completo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27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Aceitação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Validar com o cliente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</a:tr>
              <a:tr h="3727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Garantir que mudanças não criaram novos erros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27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Verificar se as funcionalidades funcionam corretamente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</a:tr>
              <a:tr h="3727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Funcional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Avaliar desempenho, segurança e usabilidade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27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Medir velocidade e capacidade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</a:tr>
              <a:tr h="3727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Segurança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Identificar vulnerabilidades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27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Usabilidade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Avaliar facilidade de uso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</a:tr>
              <a:tr h="3727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Compatibilidade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Testar em diferentes plataformas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27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Exploratório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Descobrir falhas por exploração livre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-1463040" y="-1645920"/>
            <a:ext cx="4937760" cy="493776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4114800"/>
            <a:ext cx="3840480" cy="384048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640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005840"/>
            <a:ext cx="7498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3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Testar não é opcional — é o que garante confiabilidade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6126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F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casos do Ariane 5, Therac-25 e Knight Capital demonstram que a ausência de um processo de testes estruturado pode gerar consequências graves: perdas financeiras, falhas operacionais e riscos à vida humana.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6126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F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processo bem planejado — com testes unitários, de integração, de sistema, de regressão e de aceitação — aumenta a qualidade do software, reduz defeitos e amplia a confiabilidade para usuários e organizações.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406640" y="237744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8778240" y="254203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reais analisados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06640" y="342900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778240" y="359359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teste estudados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06640" y="448056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778240" y="464515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no processo de teste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2026-07-27T17:39:37Z</dcterms:created>
  <dcterms:modified xsi:type="dcterms:W3CDTF">2026-07-27T17:39:37Z</dcterms:modified>
</cp:coreProperties>
</file>